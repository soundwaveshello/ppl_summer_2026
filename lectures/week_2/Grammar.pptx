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Lato" panose="020F0502020204030203" pitchFamily="34" charset="0"/>
      <p:regular r:id="rId23"/>
      <p:bold r:id="rId24"/>
      <p:italic r:id="rId25"/>
      <p:boldItalic r:id="rId26"/>
    </p:embeddedFont>
    <p:embeddedFont>
      <p:font typeface="Raleway" pitchFamily="2" charset="77"/>
      <p:regular r:id="rId27"/>
      <p:bold r:id="rId28"/>
      <p:italic r:id="rId29"/>
      <p:boldItalic r:id="rId30"/>
    </p:embeddedFont>
    <p:embeddedFont>
      <p:font typeface="Roboto Mono" pitchFamily="49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68"/>
  </p:normalViewPr>
  <p:slideViewPr>
    <p:cSldViewPr snapToGrid="0">
      <p:cViewPr varScale="1">
        <p:scale>
          <a:sx n="169" d="100"/>
          <a:sy n="169" d="100"/>
        </p:scale>
        <p:origin x="192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4c758ae3f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4c758ae3f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e4c758ae3f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e4c758ae3f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2e4c758ae3f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2e4c758ae3f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4c758ae3f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2e4c758ae3f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e4c758ae3f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e4c758ae3f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e4c758ae3f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2e4c758ae3f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e4c758ae3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2e4c758ae3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e4c758ae3f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e4c758ae3f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e4c758ae3f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e4c758ae3f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e4c758ae3f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e4c758ae3f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e4c758ae3f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e4c758ae3f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e4c758ae3f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2e4c758ae3f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e4c758ae3f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2e4c758ae3f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e4c758ae3f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e4c758ae3f_0_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2e4c758ae3f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2e4c758ae3f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e4c758ae3f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2e4c758ae3f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e4c758ae3f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2e4c758ae3f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2e4c758ae3f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2e4c758ae3f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2e4c758ae3f_0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2e4c758ae3f_0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Grammar</a:t>
            </a:r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Oh joy.  Tis English class all over again.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do we care?</a:t>
            </a:r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3375" algn="l" rtl="0"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Char char="-"/>
            </a:pPr>
            <a:r>
              <a:rPr lang="en" sz="165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 this course we will build our own language called </a:t>
            </a:r>
            <a:r>
              <a:rPr lang="en" sz="1650">
                <a:solidFill>
                  <a:srgbClr val="188038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Lettuce</a:t>
            </a:r>
            <a:r>
              <a:rPr lang="en" sz="165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(inspired by OCaml)</a:t>
            </a:r>
            <a:endParaRPr sz="165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33375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Char char="-"/>
            </a:pPr>
            <a:r>
              <a:rPr lang="en" sz="165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And an interpreter for that language</a:t>
            </a:r>
            <a:endParaRPr sz="165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33375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Char char="-"/>
            </a:pPr>
            <a:r>
              <a:rPr lang="en" sz="165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We will use backus naur form (BNF) grammars</a:t>
            </a:r>
            <a:endParaRPr sz="165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33375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Char char="-"/>
            </a:pPr>
            <a:r>
              <a:rPr lang="en" sz="165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Once we’ve got our grammar, we can define semantic rules (inference rules) over possible patterns that arise</a:t>
            </a:r>
            <a:endParaRPr sz="165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Potential Languages</a:t>
            </a:r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Regular languages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Context free languages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Context sensitive languages</a:t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Languages</a:t>
            </a:r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We’ve already seen one . . . 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We read them from left to right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Defined by anything that could be consumed by a FSM (Finite State Machine)</a:t>
            </a:r>
            <a:endParaRPr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Context Free Languages</a:t>
            </a:r>
            <a:endParaRPr/>
          </a:p>
        </p:txBody>
      </p:sp>
      <p:sp>
        <p:nvSpPr>
          <p:cNvPr id="111" name="Google Shape;111;p17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These are more complicated . . . we divide every piece of them into either ‘terminal’ or ‘non-terminal’ components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Can describe anything that a regular language can describe and more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Can represent most programming languages</a:t>
            </a:r>
            <a:endParaRPr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Context Sensitive Languages</a:t>
            </a:r>
            <a:endParaRPr/>
          </a:p>
        </p:txBody>
      </p:sp>
      <p:sp>
        <p:nvSpPr>
          <p:cNvPr id="117" name="Google Shape;117;p18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Complicated, confusing combination of regular and context free languages in the sense that they utilize finite state machines with terminal and non-terminal states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Can describe anything that a context free language can describe and more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Completely beyond the scope of this course</a:t>
            </a:r>
            <a:endParaRPr sz="16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Diving into BNF Grammar</a:t>
            </a:r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Meta-symbols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 ε (epsilon): nothingness, the lack of characterization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 =&gt; (rightarrow/produces): can produce, can become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| (pipe/or): or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Non-terminals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Things that on the left of our =&gt; symbol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They aren’t members of the ‘object’ language</a:t>
            </a:r>
            <a:endParaRPr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BNG Grammar (continued)</a:t>
            </a:r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Meta-variables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A fancy way to describe normal variable naming conventions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Terminal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Everything else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These are in terms of our ‘object’ language</a:t>
            </a:r>
            <a:endParaRPr sz="1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Example: Bits</a:t>
            </a:r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body" idx="1"/>
          </p:nvPr>
        </p:nvSpPr>
        <p:spPr>
          <a:xfrm>
            <a:off x="729449" y="2078875"/>
            <a:ext cx="2227395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 dirty="0"/>
              <a:t>Bit</a:t>
            </a:r>
            <a:r>
              <a:rPr lang="en" sz="1600" dirty="0"/>
              <a:t> 	=&gt; 	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	|	1</a:t>
            </a:r>
            <a:endParaRPr sz="16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600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600" dirty="0"/>
          </a:p>
        </p:txBody>
      </p:sp>
      <p:sp>
        <p:nvSpPr>
          <p:cNvPr id="136" name="Google Shape;136;p21"/>
          <p:cNvSpPr txBox="1"/>
          <p:nvPr/>
        </p:nvSpPr>
        <p:spPr>
          <a:xfrm>
            <a:off x="4196750" y="2142825"/>
            <a:ext cx="4221300" cy="2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-"/>
            </a:pPr>
            <a:r>
              <a:rPr lang="en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Only one rule</a:t>
            </a: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-"/>
            </a:pPr>
            <a:r>
              <a:rPr lang="en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One non-terminal</a:t>
            </a: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-"/>
            </a:pPr>
            <a:r>
              <a:rPr lang="en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Two terminals</a:t>
            </a: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-"/>
            </a:pPr>
            <a:r>
              <a:rPr lang="en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How many sentences can we make with this grammar?</a:t>
            </a: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Another Example: Binary</a:t>
            </a:r>
            <a:endParaRPr/>
          </a:p>
        </p:txBody>
      </p:sp>
      <p:sp>
        <p:nvSpPr>
          <p:cNvPr id="142" name="Google Shape;142;p22"/>
          <p:cNvSpPr txBox="1">
            <a:spLocks noGrp="1"/>
          </p:cNvSpPr>
          <p:nvPr>
            <p:ph type="body" idx="1"/>
          </p:nvPr>
        </p:nvSpPr>
        <p:spPr>
          <a:xfrm>
            <a:off x="729449" y="2078875"/>
            <a:ext cx="2714505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 dirty="0"/>
              <a:t>Bits</a:t>
            </a:r>
            <a:r>
              <a:rPr lang="en" sz="1600" dirty="0"/>
              <a:t>	=&gt;	</a:t>
            </a:r>
            <a:r>
              <a:rPr lang="en" sz="1600" i="1" dirty="0"/>
              <a:t>Bit</a:t>
            </a:r>
            <a:r>
              <a:rPr lang="en" sz="1600" dirty="0"/>
              <a:t> </a:t>
            </a:r>
            <a:r>
              <a:rPr lang="en" sz="1600" i="1" dirty="0"/>
              <a:t>Bits</a:t>
            </a:r>
            <a:endParaRPr sz="16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dirty="0"/>
              <a:t>	|	</a:t>
            </a:r>
            <a:r>
              <a:rPr lang="en" sz="1600" i="1" dirty="0"/>
              <a:t>Bit</a:t>
            </a:r>
            <a:endParaRPr sz="1600" i="1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i="1" dirty="0"/>
              <a:t>Bit	=&gt;	</a:t>
            </a:r>
            <a:r>
              <a:rPr lang="en" sz="1600" dirty="0"/>
              <a:t>0</a:t>
            </a:r>
            <a:endParaRPr sz="1600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 dirty="0"/>
              <a:t>	|	1</a:t>
            </a:r>
            <a:endParaRPr sz="1600" dirty="0"/>
          </a:p>
        </p:txBody>
      </p:sp>
      <p:sp>
        <p:nvSpPr>
          <p:cNvPr id="143" name="Google Shape;143;p22"/>
          <p:cNvSpPr txBox="1"/>
          <p:nvPr/>
        </p:nvSpPr>
        <p:spPr>
          <a:xfrm>
            <a:off x="4572000" y="2078875"/>
            <a:ext cx="2567400" cy="21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Can think of it as:</a:t>
            </a: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A	=&gt;	B A</a:t>
            </a:r>
            <a:endParaRPr sz="1600" i="1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	</a:t>
            </a:r>
            <a:r>
              <a:rPr lang="en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|	</a:t>
            </a:r>
            <a:r>
              <a:rPr lang="en" sz="1600" i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B</a:t>
            </a:r>
            <a:endParaRPr sz="1600" i="1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i="1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B	=&gt;	</a:t>
            </a:r>
            <a:r>
              <a:rPr lang="en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0</a:t>
            </a: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	|	1</a:t>
            </a: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Parse Tree for our Binary Grammar</a:t>
            </a:r>
            <a:endParaRPr/>
          </a:p>
        </p:txBody>
      </p:sp>
      <p:sp>
        <p:nvSpPr>
          <p:cNvPr id="149" name="Google Shape;149;p23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 dirty="0"/>
              <a:t>Bits</a:t>
            </a:r>
            <a:r>
              <a:rPr lang="en" sz="1600" dirty="0"/>
              <a:t>	=&gt;	</a:t>
            </a:r>
            <a:r>
              <a:rPr lang="en" sz="1600" i="1" dirty="0"/>
              <a:t>Bit</a:t>
            </a:r>
            <a:r>
              <a:rPr lang="en" sz="1600" dirty="0"/>
              <a:t> </a:t>
            </a:r>
            <a:r>
              <a:rPr lang="en" sz="1600" i="1" dirty="0"/>
              <a:t>Bits</a:t>
            </a:r>
            <a:endParaRPr sz="16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dirty="0"/>
              <a:t>	|	</a:t>
            </a:r>
            <a:r>
              <a:rPr lang="en" sz="1600" i="1" dirty="0"/>
              <a:t>Bit</a:t>
            </a:r>
            <a:endParaRPr sz="1600" i="1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i="1" dirty="0"/>
              <a:t>Bit	=&gt;	</a:t>
            </a:r>
            <a:r>
              <a:rPr lang="en" sz="1600" dirty="0"/>
              <a:t>0</a:t>
            </a:r>
            <a:endParaRPr sz="16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dirty="0"/>
              <a:t>	|	1</a:t>
            </a:r>
            <a:endParaRPr sz="1600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BBEEF9-164C-B27B-249E-C239502FB3B9}"/>
              </a:ext>
            </a:extLst>
          </p:cNvPr>
          <p:cNvSpPr txBox="1"/>
          <p:nvPr/>
        </p:nvSpPr>
        <p:spPr>
          <a:xfrm>
            <a:off x="5162550" y="2362200"/>
            <a:ext cx="16573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101 -&gt; Bits</a:t>
            </a:r>
          </a:p>
          <a:p>
            <a:endParaRPr lang="en-US" dirty="0"/>
          </a:p>
          <a:p>
            <a:r>
              <a:rPr lang="en-US" dirty="0"/>
              <a:t>Bit   Bits</a:t>
            </a:r>
          </a:p>
          <a:p>
            <a:r>
              <a:rPr lang="en-US" dirty="0"/>
              <a:t>1     Bit   Bits</a:t>
            </a:r>
          </a:p>
          <a:p>
            <a:r>
              <a:rPr lang="en-US" dirty="0"/>
              <a:t>        0     Bit</a:t>
            </a:r>
          </a:p>
          <a:p>
            <a:r>
              <a:rPr lang="en-US" dirty="0"/>
              <a:t>               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BNF for 0, 1, or 2 a’s</a:t>
            </a:r>
            <a:endParaRPr/>
          </a:p>
        </p:txBody>
      </p:sp>
      <p:sp>
        <p:nvSpPr>
          <p:cNvPr id="155" name="Google Shape;155;p2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This one is pretty straightforward: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i="1"/>
              <a:t>S</a:t>
            </a:r>
            <a:r>
              <a:rPr lang="en" sz="1600"/>
              <a:t> 	=&gt;	ε 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	|	a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	|	aa</a:t>
            </a:r>
            <a:endParaRPr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BNF for a language with n a’s, followed by n b’s</a:t>
            </a:r>
            <a:endParaRPr/>
          </a:p>
        </p:txBody>
      </p:sp>
      <p:sp>
        <p:nvSpPr>
          <p:cNvPr id="161" name="Google Shape;161;p2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We might express this language as {a</a:t>
            </a:r>
            <a:r>
              <a:rPr lang="en" sz="1600" baseline="30000"/>
              <a:t>n</a:t>
            </a:r>
            <a:r>
              <a:rPr lang="en" sz="1600"/>
              <a:t>|n ∈ N, n &gt;= 0} . . . but what would this look like in BNF?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There are a lot of options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Only one non-terminal: a couple of options</a:t>
            </a:r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2193212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 dirty="0"/>
              <a:t>S </a:t>
            </a:r>
            <a:r>
              <a:rPr lang="en" sz="1600" dirty="0"/>
              <a:t>=&gt;	</a:t>
            </a:r>
            <a:r>
              <a:rPr lang="en" sz="1600" i="1" dirty="0"/>
              <a:t>S</a:t>
            </a:r>
            <a:r>
              <a:rPr lang="en" sz="1600" dirty="0"/>
              <a:t> a</a:t>
            </a:r>
            <a:endParaRPr sz="16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dirty="0"/>
              <a:t>   |	</a:t>
            </a:r>
            <a:r>
              <a:rPr lang="en" sz="1600" dirty="0" err="1"/>
              <a:t>ε</a:t>
            </a:r>
            <a:endParaRPr sz="1600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600" dirty="0"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1"/>
          </p:nvPr>
        </p:nvSpPr>
        <p:spPr>
          <a:xfrm>
            <a:off x="3045700" y="2078875"/>
            <a:ext cx="18795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 dirty="0"/>
              <a:t>S </a:t>
            </a:r>
            <a:r>
              <a:rPr lang="en" sz="1600" dirty="0"/>
              <a:t>=&gt;	a </a:t>
            </a:r>
            <a:r>
              <a:rPr lang="en" sz="1600" i="1" dirty="0"/>
              <a:t>S</a:t>
            </a:r>
            <a:endParaRPr sz="1600" i="1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dirty="0"/>
              <a:t>    |	</a:t>
            </a:r>
            <a:r>
              <a:rPr lang="en" sz="1600" dirty="0" err="1"/>
              <a:t>ε</a:t>
            </a:r>
            <a:endParaRPr sz="1600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600" dirty="0"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1"/>
          </p:nvPr>
        </p:nvSpPr>
        <p:spPr>
          <a:xfrm>
            <a:off x="5424050" y="2078875"/>
            <a:ext cx="18795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 dirty="0"/>
              <a:t>S </a:t>
            </a:r>
            <a:r>
              <a:rPr lang="en" sz="1600" dirty="0"/>
              <a:t>=&gt;	</a:t>
            </a:r>
            <a:r>
              <a:rPr lang="en" sz="1600" i="1" dirty="0"/>
              <a:t>S</a:t>
            </a:r>
            <a:r>
              <a:rPr lang="en" sz="1600" dirty="0"/>
              <a:t> </a:t>
            </a:r>
            <a:r>
              <a:rPr lang="en" sz="1600" i="1" dirty="0"/>
              <a:t>S</a:t>
            </a:r>
            <a:endParaRPr sz="1600" i="1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dirty="0"/>
              <a:t>   |	</a:t>
            </a:r>
            <a:r>
              <a:rPr lang="en" sz="1600" dirty="0" err="1"/>
              <a:t>ε</a:t>
            </a:r>
            <a:endParaRPr sz="16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dirty="0"/>
              <a:t>   |	a</a:t>
            </a:r>
            <a:endParaRPr sz="1600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Non-terminals</a:t>
            </a:r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3842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/>
              <a:t>S	=&gt;	S T</a:t>
            </a:r>
            <a:endParaRPr sz="1600" i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i="1"/>
              <a:t>	</a:t>
            </a:r>
            <a:r>
              <a:rPr lang="en" sz="1600"/>
              <a:t>|	</a:t>
            </a:r>
            <a:r>
              <a:rPr lang="en" sz="1600" i="1"/>
              <a:t>T</a:t>
            </a:r>
            <a:endParaRPr sz="1600" i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600" i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i="1"/>
              <a:t>T	=&gt;	</a:t>
            </a:r>
            <a:r>
              <a:rPr lang="en" sz="1600"/>
              <a:t>a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	|	ε</a:t>
            </a:r>
            <a:endParaRPr sz="1600"/>
          </a:p>
        </p:txBody>
      </p:sp>
      <p:sp>
        <p:nvSpPr>
          <p:cNvPr id="176" name="Google Shape;176;p27"/>
          <p:cNvSpPr txBox="1"/>
          <p:nvPr/>
        </p:nvSpPr>
        <p:spPr>
          <a:xfrm>
            <a:off x="4752150" y="2078875"/>
            <a:ext cx="3737400" cy="235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Since we don’t define the start symbol anywhere, we assume that the first non-terminal is our start symbol</a:t>
            </a: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-"/>
            </a:pPr>
            <a:r>
              <a:rPr lang="en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S represents start</a:t>
            </a: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-"/>
            </a:pPr>
            <a:r>
              <a:rPr lang="en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T represents terminal</a:t>
            </a: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Another Example</a:t>
            </a:r>
            <a:endParaRPr/>
          </a:p>
        </p:txBody>
      </p:sp>
      <p:sp>
        <p:nvSpPr>
          <p:cNvPr id="182" name="Google Shape;182;p28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 language of a’s followed by the same number of b’s</a:t>
            </a:r>
            <a:endParaRPr sz="1600"/>
          </a:p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{a</a:t>
            </a:r>
            <a:r>
              <a:rPr lang="en" sz="1600" baseline="30000"/>
              <a:t>n</a:t>
            </a:r>
            <a:r>
              <a:rPr lang="en" sz="1600"/>
              <a:t>b</a:t>
            </a:r>
            <a:r>
              <a:rPr lang="en" sz="1600" baseline="30000"/>
              <a:t>n</a:t>
            </a:r>
            <a:r>
              <a:rPr lang="en" sz="1600"/>
              <a:t>|n ∈ N, n &gt;= 0} 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This is the first thing we’ve run into that couldn’t be expressed via a regular language . . .</a:t>
            </a:r>
            <a:endParaRPr sz="16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9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188" name="Google Shape;188;p29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/>
              <a:t>S</a:t>
            </a:r>
            <a:r>
              <a:rPr lang="en" sz="1600"/>
              <a:t> 	=&gt;	ab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	|	a</a:t>
            </a:r>
            <a:r>
              <a:rPr lang="en" sz="1600" i="1"/>
              <a:t>S</a:t>
            </a:r>
            <a:r>
              <a:rPr lang="en" sz="1600"/>
              <a:t>b</a:t>
            </a:r>
            <a:endParaRPr sz="16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0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Yet another example</a:t>
            </a:r>
            <a:endParaRPr/>
          </a:p>
        </p:txBody>
      </p:sp>
      <p:sp>
        <p:nvSpPr>
          <p:cNvPr id="194" name="Google Shape;194;p30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The language of 3 b’s, followed by 1 or many c’s, followed by 0 or many d’s</a:t>
            </a:r>
            <a:endParaRPr sz="1600"/>
          </a:p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{bbbc</a:t>
            </a:r>
            <a:r>
              <a:rPr lang="en" sz="1600" baseline="30000"/>
              <a:t>n</a:t>
            </a:r>
            <a:r>
              <a:rPr lang="en" sz="1600"/>
              <a:t>d</a:t>
            </a:r>
            <a:r>
              <a:rPr lang="en" sz="1600" baseline="30000"/>
              <a:t>m</a:t>
            </a:r>
            <a:r>
              <a:rPr lang="en" sz="1600"/>
              <a:t>|n ∈ N, m ∈ N, n &gt; 0, m &gt;= 0} 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Can we express this in a regular language?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What does the BNF for this look like?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6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200" name="Google Shape;200;p31"/>
          <p:cNvSpPr txBox="1">
            <a:spLocks noGrp="1"/>
          </p:cNvSpPr>
          <p:nvPr>
            <p:ph type="body" idx="1"/>
          </p:nvPr>
        </p:nvSpPr>
        <p:spPr>
          <a:xfrm>
            <a:off x="729450" y="1853850"/>
            <a:ext cx="7688700" cy="285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There are a couple of potential solutions; this is mine: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i="1"/>
              <a:t>S 	=&gt;	</a:t>
            </a:r>
            <a:r>
              <a:rPr lang="en" sz="1600"/>
              <a:t>bbb</a:t>
            </a:r>
            <a:r>
              <a:rPr lang="en" sz="1600" i="1"/>
              <a:t>QR</a:t>
            </a:r>
            <a:endParaRPr sz="1600" i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i="1"/>
              <a:t>Q	=&gt;	</a:t>
            </a:r>
            <a:r>
              <a:rPr lang="en" sz="1600"/>
              <a:t>c</a:t>
            </a:r>
            <a:r>
              <a:rPr lang="en" sz="1600" i="1"/>
              <a:t>Q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	|	c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 i="1"/>
              <a:t>R</a:t>
            </a:r>
            <a:r>
              <a:rPr lang="en" sz="1600"/>
              <a:t>	=&gt;	d</a:t>
            </a:r>
            <a:r>
              <a:rPr lang="en" sz="1600" i="1"/>
              <a:t>R</a:t>
            </a:r>
            <a:endParaRPr sz="1600" i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 i="1"/>
              <a:t>	</a:t>
            </a:r>
            <a:r>
              <a:rPr lang="en" sz="1600"/>
              <a:t>|	ε</a:t>
            </a:r>
            <a:endParaRPr sz="16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2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additional practice, if we have time</a:t>
            </a:r>
            <a:endParaRPr/>
          </a:p>
        </p:txBody>
      </p:sp>
      <p:sp>
        <p:nvSpPr>
          <p:cNvPr id="206" name="Google Shape;206;p32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5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{bc</a:t>
            </a:r>
            <a:r>
              <a:rPr lang="en" sz="1600" baseline="30000"/>
              <a:t>n</a:t>
            </a:r>
            <a:r>
              <a:rPr lang="en" sz="1600"/>
              <a:t>d</a:t>
            </a:r>
            <a:r>
              <a:rPr lang="en" sz="1600" baseline="30000"/>
              <a:t>2 * n </a:t>
            </a:r>
            <a:r>
              <a:rPr lang="en" sz="1600"/>
              <a:t>|n ∈ N, n &gt;= 3}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{x</a:t>
            </a:r>
            <a:r>
              <a:rPr lang="en" sz="1600" baseline="30000"/>
              <a:t>n</a:t>
            </a:r>
            <a:r>
              <a:rPr lang="en" sz="1600"/>
              <a:t>yz</a:t>
            </a:r>
            <a:r>
              <a:rPr lang="en" sz="1600" baseline="30000"/>
              <a:t>2 * n </a:t>
            </a:r>
            <a:r>
              <a:rPr lang="en" sz="1600"/>
              <a:t>|n ∈ N, n &gt;= 2}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{i</a:t>
            </a:r>
            <a:r>
              <a:rPr lang="en" sz="1600" baseline="30000"/>
              <a:t>3 * n</a:t>
            </a:r>
            <a:r>
              <a:rPr lang="en" sz="1600"/>
              <a:t>j</a:t>
            </a:r>
            <a:r>
              <a:rPr lang="en" sz="1600" baseline="30000"/>
              <a:t>n</a:t>
            </a:r>
            <a:r>
              <a:rPr lang="en" sz="1600"/>
              <a:t> |n ∈ N, n &gt;= 1}</a:t>
            </a: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750</Words>
  <Application>Microsoft Macintosh PowerPoint</Application>
  <PresentationFormat>On-screen Show (16:9)</PresentationFormat>
  <Paragraphs>118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Raleway</vt:lpstr>
      <vt:lpstr>Roboto Mono</vt:lpstr>
      <vt:lpstr>Arial</vt:lpstr>
      <vt:lpstr>Lato</vt:lpstr>
      <vt:lpstr>Streamline</vt:lpstr>
      <vt:lpstr>Grammar</vt:lpstr>
      <vt:lpstr>What do we care?</vt:lpstr>
      <vt:lpstr>Potential Languages</vt:lpstr>
      <vt:lpstr>Regular Languages</vt:lpstr>
      <vt:lpstr>Context Free Languages</vt:lpstr>
      <vt:lpstr>Context Sensitive Languages</vt:lpstr>
      <vt:lpstr>Diving into BNF Grammar</vt:lpstr>
      <vt:lpstr>BNG Grammar (continued)</vt:lpstr>
      <vt:lpstr>An Example: Bits</vt:lpstr>
      <vt:lpstr>Another Example: Binary</vt:lpstr>
      <vt:lpstr>Parse Tree for our Binary Grammar</vt:lpstr>
      <vt:lpstr>BNF for 0, 1, or 2 a’s</vt:lpstr>
      <vt:lpstr>BNF for a language with n a’s, followed by n b’s</vt:lpstr>
      <vt:lpstr>Only one non-terminal: a couple of options</vt:lpstr>
      <vt:lpstr>Multiple Non-terminals</vt:lpstr>
      <vt:lpstr>Another Example</vt:lpstr>
      <vt:lpstr>Solution</vt:lpstr>
      <vt:lpstr>Yet another example</vt:lpstr>
      <vt:lpstr>Solution</vt:lpstr>
      <vt:lpstr>Some additional practice, if we have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Kevin Lane</cp:lastModifiedBy>
  <cp:revision>1</cp:revision>
  <dcterms:modified xsi:type="dcterms:W3CDTF">2025-06-11T19:24:41Z</dcterms:modified>
</cp:coreProperties>
</file>