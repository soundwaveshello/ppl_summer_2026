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7" r:id="rId18"/>
    <p:sldId id="278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6858000" cy="9144000"/>
  <p:embeddedFontLs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Raleway" pitchFamily="2" charset="77"/>
      <p:regular r:id="rId30"/>
      <p:bold r:id="rId31"/>
      <p:italic r:id="rId32"/>
      <p:boldItalic r:id="rId33"/>
    </p:embeddedFont>
    <p:embeddedFont>
      <p:font typeface="Roboto Mono" pitchFamily="49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4"/>
    <p:restoredTop sz="94603"/>
  </p:normalViewPr>
  <p:slideViewPr>
    <p:cSldViewPr snapToGrid="0">
      <p:cViewPr varScale="1">
        <p:scale>
          <a:sx n="136" d="100"/>
          <a:sy n="136" d="100"/>
        </p:scale>
        <p:origin x="208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4c758ae3f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4c758ae3f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4c758ae3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4c758ae3f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4c758ae3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4c758ae3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4c758ae3f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4c758ae3f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4c758ae3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4c758ae3f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4c758ae3f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e4c758ae3f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4c758ae3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e4c758ae3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4c758ae3f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4c758ae3f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4c758ae3f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4c758ae3f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4c758ae3f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e4c758ae3f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4c758ae3f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e4c758ae3f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4c758ae3f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e4c758ae3f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4c758ae3f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4c758ae3f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e4c758ae3f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e4c758ae3f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4c758ae3f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4c758ae3f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4c758ae3f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e4c758ae3f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e4c758ae3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e4c758ae3f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4c758ae3f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e4c758ae3f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4c758ae3f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4c758ae3f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Grammar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Oh joy.  Tis English class all over again.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care?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3375" algn="l" rtl="0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Char char="-"/>
            </a:pPr>
            <a:r>
              <a:rPr lang="en" sz="165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 this course we will build our own language called </a:t>
            </a:r>
            <a:r>
              <a:rPr lang="en" sz="1650" dirty="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Lettuce</a:t>
            </a:r>
            <a:r>
              <a:rPr lang="en" sz="165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(inspired by </a:t>
            </a:r>
            <a:r>
              <a:rPr lang="en" sz="165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OCaml</a:t>
            </a:r>
            <a:r>
              <a:rPr lang="en" sz="165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65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Char char="-"/>
            </a:pPr>
            <a:r>
              <a:rPr lang="en" sz="165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And an interpreter for that language</a:t>
            </a:r>
            <a:endParaRPr sz="165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Char char="-"/>
            </a:pPr>
            <a:r>
              <a:rPr lang="en" sz="165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will use </a:t>
            </a:r>
            <a:r>
              <a:rPr lang="en" sz="165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backus</a:t>
            </a:r>
            <a:r>
              <a:rPr lang="en" sz="165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5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naur</a:t>
            </a:r>
            <a:r>
              <a:rPr lang="en" sz="165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form (BNF) grammars</a:t>
            </a:r>
            <a:endParaRPr sz="165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Char char="-"/>
            </a:pPr>
            <a:r>
              <a:rPr lang="en" sz="165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Once we’ve got our grammar, we can define semantic rules (inference rules) over possible patterns that arise</a:t>
            </a:r>
            <a:endParaRPr sz="165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Languages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Regular languages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Context free languages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Context sensitive languages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Languages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We’ve already discussed one . . . Regex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We read them from left to right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Defined by anything that could be consumed by a FSM (Finite State Machine)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Examples (in regex):</a:t>
            </a:r>
          </a:p>
          <a:p>
            <a:pPr lvl="1" indent="-330200">
              <a:buSzPts val="1600"/>
              <a:buChar char="-"/>
            </a:pPr>
            <a:r>
              <a:rPr lang="en" sz="1400" dirty="0"/>
              <a:t>Language that consists of any number of a’s followed by one b</a:t>
            </a:r>
          </a:p>
          <a:p>
            <a:pPr lvl="2" indent="-330200">
              <a:buSzPts val="1600"/>
              <a:buChar char="-"/>
            </a:pPr>
            <a:r>
              <a:rPr lang="en" sz="1400" dirty="0"/>
              <a:t>a*b</a:t>
            </a:r>
          </a:p>
          <a:p>
            <a:pPr lvl="1" indent="-330200">
              <a:buSzPts val="1600"/>
              <a:buChar char="-"/>
            </a:pPr>
            <a:r>
              <a:rPr lang="en-US" sz="1400" dirty="0"/>
              <a:t>Language that consists of one or more a’s followed by one b</a:t>
            </a:r>
          </a:p>
          <a:p>
            <a:pPr lvl="2" indent="-330200">
              <a:buSzPts val="1600"/>
              <a:buChar char="-"/>
            </a:pPr>
            <a:r>
              <a:rPr lang="en-US" sz="1400" dirty="0"/>
              <a:t>aa*b</a:t>
            </a:r>
            <a:endParaRPr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Free Languages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These are more complicated . . . we divide every piece of them into either ‘terminal’ or ‘non-terminal’ components</a:t>
            </a:r>
          </a:p>
          <a:p>
            <a:pPr lvl="1" indent="-330200">
              <a:buSzPts val="1600"/>
              <a:buFont typeface="Lato"/>
              <a:buChar char="-"/>
            </a:pPr>
            <a:r>
              <a:rPr lang="en-US" sz="1400" dirty="0"/>
              <a:t>Governed by a grammar called BNF grammar</a:t>
            </a:r>
            <a:endParaRPr sz="14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Can describe anything that a regular language can describe and more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Can represent most programming languages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Sensitive Languages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Complicated, confusing combination of regular and context free languages in the sense that they utilize finite state machines with terminal and non-terminal states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Can describe anything that a context free language can describe and more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i="1" dirty="0"/>
              <a:t>Completely</a:t>
            </a:r>
            <a:r>
              <a:rPr lang="en" sz="1600" dirty="0"/>
              <a:t> beyond the scope of this course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D8BF99E1-3A3D-798D-1DB9-C9EF28CEB961}"/>
              </a:ext>
            </a:extLst>
          </p:cNvPr>
          <p:cNvSpPr/>
          <p:nvPr/>
        </p:nvSpPr>
        <p:spPr>
          <a:xfrm>
            <a:off x="2931737" y="1807948"/>
            <a:ext cx="3120272" cy="2999722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A2435C-A0B5-C7A0-D528-3677F3F10ADD}"/>
              </a:ext>
            </a:extLst>
          </p:cNvPr>
          <p:cNvSpPr/>
          <p:nvPr/>
        </p:nvSpPr>
        <p:spPr>
          <a:xfrm>
            <a:off x="3473713" y="1807949"/>
            <a:ext cx="1997573" cy="191564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26DA25-E22E-D828-6356-EFFF779D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Language Hierarchy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541C18-BAE9-DF0F-23C0-9898FDB57CA5}"/>
              </a:ext>
            </a:extLst>
          </p:cNvPr>
          <p:cNvSpPr/>
          <p:nvPr/>
        </p:nvSpPr>
        <p:spPr>
          <a:xfrm>
            <a:off x="3714278" y="1807948"/>
            <a:ext cx="1530297" cy="102593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Regular Languages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F47CB5-1272-BD56-92CD-F0EBAD35EBE2}"/>
              </a:ext>
            </a:extLst>
          </p:cNvPr>
          <p:cNvSpPr txBox="1"/>
          <p:nvPr/>
        </p:nvSpPr>
        <p:spPr>
          <a:xfrm>
            <a:off x="3819549" y="2922309"/>
            <a:ext cx="1319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Context Free Languages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213B6C-4504-3D16-7D48-36185308D928}"/>
              </a:ext>
            </a:extLst>
          </p:cNvPr>
          <p:cNvSpPr txBox="1"/>
          <p:nvPr/>
        </p:nvSpPr>
        <p:spPr>
          <a:xfrm>
            <a:off x="3624087" y="3934827"/>
            <a:ext cx="169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Context Sensitive Languages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881C68AB-D3B6-FD07-50EF-F9DFC75F4936}"/>
              </a:ext>
            </a:extLst>
          </p:cNvPr>
          <p:cNvSpPr/>
          <p:nvPr/>
        </p:nvSpPr>
        <p:spPr>
          <a:xfrm rot="5400000">
            <a:off x="5940677" y="2059718"/>
            <a:ext cx="890769" cy="191483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46FE0-EDFF-DE22-880D-20F19B5351D7}"/>
              </a:ext>
            </a:extLst>
          </p:cNvPr>
          <p:cNvSpPr txBox="1"/>
          <p:nvPr/>
        </p:nvSpPr>
        <p:spPr>
          <a:xfrm>
            <a:off x="7445085" y="2876142"/>
            <a:ext cx="1180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live here</a:t>
            </a:r>
          </a:p>
        </p:txBody>
      </p:sp>
    </p:spTree>
    <p:extLst>
      <p:ext uri="{BB962C8B-B14F-4D97-AF65-F5344CB8AC3E}">
        <p14:creationId xmlns:p14="http://schemas.microsoft.com/office/powerpoint/2010/main" val="16531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Diving into BNF Grammar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Meta-symbols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 ε (epsilon): nothingness, the lack of characterization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 =&gt; (rightarrow/produces): can produce, can become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| (pipe/or): or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Non-terminals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Things that on the left of our =&gt; symbol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They aren’t members of the ‘object’ language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BNF Grammar (continued)</a:t>
            </a:r>
            <a:endParaRPr dirty="0"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643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Meta-variables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A fancy way to describe normal variable naming conventions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Terminal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Everything else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These are in terms of our ‘object’ language</a:t>
            </a:r>
          </a:p>
          <a:p>
            <a:pPr indent="-330200">
              <a:buSzPts val="1600"/>
              <a:buChar char="-"/>
            </a:pPr>
            <a:r>
              <a:rPr lang="en" sz="1800" dirty="0"/>
              <a:t>Sentence</a:t>
            </a:r>
          </a:p>
          <a:p>
            <a:pPr lvl="1" indent="-330200">
              <a:buSzPts val="1600"/>
              <a:buChar char="-"/>
            </a:pPr>
            <a:r>
              <a:rPr lang="en" sz="1600" dirty="0"/>
              <a:t>String that can be created with our BNF grammar</a:t>
            </a:r>
          </a:p>
          <a:p>
            <a:pPr indent="-330200">
              <a:buSzPts val="1600"/>
              <a:buChar char="-"/>
            </a:pPr>
            <a:r>
              <a:rPr lang="en-US" sz="1800" dirty="0"/>
              <a:t>Language</a:t>
            </a:r>
          </a:p>
          <a:p>
            <a:pPr lvl="1" indent="-330200">
              <a:buSzPts val="1600"/>
              <a:buChar char="-"/>
            </a:pPr>
            <a:r>
              <a:rPr lang="en-US" sz="1600" dirty="0"/>
              <a:t>Consists of all possible sentences that our BNF can be used to create</a:t>
            </a:r>
          </a:p>
          <a:p>
            <a:pPr lvl="1" indent="-330200">
              <a:buSzPts val="1600"/>
              <a:buChar char="-"/>
            </a:pP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Example: Bits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729449" y="2078875"/>
            <a:ext cx="2227395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/>
              <a:t>Bit</a:t>
            </a:r>
            <a:r>
              <a:rPr lang="en" sz="1600" dirty="0"/>
              <a:t> 	=&gt; 	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	|	1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/>
          </a:p>
        </p:txBody>
      </p:sp>
      <p:sp>
        <p:nvSpPr>
          <p:cNvPr id="136" name="Google Shape;136;p21"/>
          <p:cNvSpPr txBox="1"/>
          <p:nvPr/>
        </p:nvSpPr>
        <p:spPr>
          <a:xfrm>
            <a:off x="4196750" y="2142825"/>
            <a:ext cx="4221300" cy="2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-"/>
            </a:pPr>
            <a:r>
              <a:rPr lang="en" sz="16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Only one rule</a:t>
            </a: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-"/>
            </a:pPr>
            <a:r>
              <a:rPr lang="en" sz="16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One non-terminal</a:t>
            </a: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-"/>
            </a:pPr>
            <a:r>
              <a:rPr lang="en" sz="16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Two terminals</a:t>
            </a: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-"/>
            </a:pPr>
            <a:r>
              <a:rPr lang="en" sz="16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How many sentences can we make with this grammar?</a:t>
            </a: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Example: Binary</a:t>
            </a:r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729449" y="2078875"/>
            <a:ext cx="2714505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/>
              <a:t>Bits</a:t>
            </a:r>
            <a:r>
              <a:rPr lang="en" sz="1600" dirty="0"/>
              <a:t>	=&gt;	</a:t>
            </a:r>
            <a:r>
              <a:rPr lang="en" sz="1600" i="1" dirty="0"/>
              <a:t>Bit</a:t>
            </a:r>
            <a:r>
              <a:rPr lang="en" sz="1600" dirty="0"/>
              <a:t> </a:t>
            </a:r>
            <a:r>
              <a:rPr lang="en" sz="1600" i="1" dirty="0"/>
              <a:t>Bits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/>
              <a:t>	|	</a:t>
            </a:r>
            <a:r>
              <a:rPr lang="en" sz="1600" i="1" dirty="0"/>
              <a:t>Bit</a:t>
            </a:r>
            <a:endParaRPr sz="1600" i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 dirty="0"/>
              <a:t>Bit	=&gt;	</a:t>
            </a:r>
            <a:r>
              <a:rPr lang="en" sz="1600" dirty="0"/>
              <a:t>0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/>
              <a:t>	|	1</a:t>
            </a:r>
            <a:endParaRPr sz="1600" dirty="0"/>
          </a:p>
        </p:txBody>
      </p:sp>
      <p:sp>
        <p:nvSpPr>
          <p:cNvPr id="143" name="Google Shape;143;p22"/>
          <p:cNvSpPr txBox="1"/>
          <p:nvPr/>
        </p:nvSpPr>
        <p:spPr>
          <a:xfrm>
            <a:off x="4572000" y="2078875"/>
            <a:ext cx="2567400" cy="21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Can think of it as: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	=&gt;	B A</a:t>
            </a:r>
            <a:endParaRPr sz="1600" i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|	</a:t>
            </a:r>
            <a:r>
              <a:rPr lang="en" sz="16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 sz="1600" i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	=&gt;	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|	1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Parse Tree for our Binary Grammar</a:t>
            </a:r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/>
              <a:t>Bits</a:t>
            </a:r>
            <a:r>
              <a:rPr lang="en" sz="1600" dirty="0"/>
              <a:t>	=&gt;	</a:t>
            </a:r>
            <a:r>
              <a:rPr lang="en" sz="1600" i="1" dirty="0"/>
              <a:t>Bit</a:t>
            </a:r>
            <a:r>
              <a:rPr lang="en" sz="1600" dirty="0"/>
              <a:t> </a:t>
            </a:r>
            <a:r>
              <a:rPr lang="en" sz="1600" i="1" dirty="0"/>
              <a:t>Bits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/>
              <a:t>	|	</a:t>
            </a:r>
            <a:r>
              <a:rPr lang="en" sz="1600" i="1" dirty="0"/>
              <a:t>Bit</a:t>
            </a:r>
            <a:endParaRPr sz="1600" i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 dirty="0"/>
              <a:t>Bit	=&gt;	</a:t>
            </a:r>
            <a:r>
              <a:rPr lang="en" sz="1600" dirty="0"/>
              <a:t>0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/>
              <a:t>	|	1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BEEF9-164C-B27B-249E-C239502FB3B9}"/>
              </a:ext>
            </a:extLst>
          </p:cNvPr>
          <p:cNvSpPr txBox="1"/>
          <p:nvPr/>
        </p:nvSpPr>
        <p:spPr>
          <a:xfrm>
            <a:off x="5162550" y="2362200"/>
            <a:ext cx="16573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101 -&gt; Bits</a:t>
            </a:r>
          </a:p>
          <a:p>
            <a:endParaRPr lang="en-US" dirty="0"/>
          </a:p>
          <a:p>
            <a:r>
              <a:rPr lang="en-US" dirty="0"/>
              <a:t>Bit   Bits</a:t>
            </a:r>
          </a:p>
          <a:p>
            <a:r>
              <a:rPr lang="en-US" dirty="0"/>
              <a:t>1     Bit   Bits</a:t>
            </a:r>
          </a:p>
          <a:p>
            <a:r>
              <a:rPr lang="en-US" dirty="0"/>
              <a:t>        0     Bit</a:t>
            </a:r>
          </a:p>
          <a:p>
            <a:r>
              <a:rPr lang="en-US" dirty="0"/>
              <a:t>               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BNF for 0, 1, or 2 a’s</a:t>
            </a:r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This one is pretty straightforward: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/>
              <a:t>S</a:t>
            </a:r>
            <a:r>
              <a:rPr lang="en" sz="1600"/>
              <a:t> 	=&gt;	ε 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	|	a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	|	aa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BNF for a language with n a’s</a:t>
            </a:r>
            <a:endParaRPr dirty="0"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We might express this language as {</a:t>
            </a:r>
            <a:r>
              <a:rPr lang="en" sz="1600" dirty="0" err="1"/>
              <a:t>a</a:t>
            </a:r>
            <a:r>
              <a:rPr lang="en" sz="1600" baseline="30000" dirty="0" err="1"/>
              <a:t>n</a:t>
            </a:r>
            <a:r>
              <a:rPr lang="en" sz="1600" dirty="0" err="1"/>
              <a:t>|n</a:t>
            </a:r>
            <a:r>
              <a:rPr lang="en" sz="1600" dirty="0"/>
              <a:t> ∈ N, n &gt;= 0} . . . but what would this look like in BNF?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/>
              <a:t>There are a lot of options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/>
              <a:t>Keep in mind, our BNF grammar </a:t>
            </a:r>
            <a:r>
              <a:rPr lang="en" sz="1600" i="1" dirty="0"/>
              <a:t>must be an exact fit</a:t>
            </a:r>
            <a:r>
              <a:rPr lang="en" sz="1600" dirty="0"/>
              <a:t>.  It needs to:</a:t>
            </a:r>
          </a:p>
          <a:p>
            <a:pPr marL="285750" indent="-285750">
              <a:spcBef>
                <a:spcPts val="1200"/>
              </a:spcBef>
            </a:pPr>
            <a:r>
              <a:rPr lang="en" sz="1600" dirty="0"/>
              <a:t>Describe all potential sentences in this language</a:t>
            </a:r>
          </a:p>
          <a:p>
            <a:pPr marL="285750" indent="-285750">
              <a:spcBef>
                <a:spcPts val="1200"/>
              </a:spcBef>
            </a:pPr>
            <a:r>
              <a:rPr lang="en" sz="1600" dirty="0"/>
              <a:t>Not describe any sentences outside of this language</a:t>
            </a:r>
            <a:endParaRPr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one non-terminal: a couple of options</a:t>
            </a: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2193212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/>
              <a:t>S </a:t>
            </a:r>
            <a:r>
              <a:rPr lang="en" sz="1600" dirty="0"/>
              <a:t>=&gt;	</a:t>
            </a:r>
            <a:r>
              <a:rPr lang="en" sz="1600" i="1" dirty="0"/>
              <a:t>S</a:t>
            </a:r>
            <a:r>
              <a:rPr lang="en" sz="1600" dirty="0"/>
              <a:t> a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/>
              <a:t>   |	</a:t>
            </a:r>
            <a:r>
              <a:rPr lang="en" sz="1600" dirty="0" err="1"/>
              <a:t>ε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/>
          </a:p>
        </p:txBody>
      </p:sp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>
            <a:off x="3045700" y="2078875"/>
            <a:ext cx="18795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/>
              <a:t>S </a:t>
            </a:r>
            <a:r>
              <a:rPr lang="en" sz="1600" dirty="0"/>
              <a:t>=&gt;	a </a:t>
            </a:r>
            <a:r>
              <a:rPr lang="en" sz="1600" i="1" dirty="0"/>
              <a:t>S</a:t>
            </a:r>
            <a:endParaRPr sz="1600" i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/>
              <a:t>    |	</a:t>
            </a:r>
            <a:r>
              <a:rPr lang="en" sz="1600" dirty="0" err="1"/>
              <a:t>ε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xfrm>
            <a:off x="5424050" y="2078875"/>
            <a:ext cx="18795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/>
              <a:t>S </a:t>
            </a:r>
            <a:r>
              <a:rPr lang="en" sz="1600" dirty="0"/>
              <a:t>=&gt;	</a:t>
            </a:r>
            <a:r>
              <a:rPr lang="en" sz="1600" i="1" dirty="0"/>
              <a:t>S</a:t>
            </a:r>
            <a:r>
              <a:rPr lang="en" sz="1600" dirty="0"/>
              <a:t> </a:t>
            </a:r>
            <a:r>
              <a:rPr lang="en" sz="1600" i="1" dirty="0"/>
              <a:t>S</a:t>
            </a:r>
            <a:endParaRPr sz="1600" i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/>
              <a:t>   |	</a:t>
            </a:r>
            <a:r>
              <a:rPr lang="en" sz="1600" dirty="0" err="1"/>
              <a:t>ε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/>
              <a:t>   |	a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Non-terminals</a:t>
            </a: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3842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/>
              <a:t>S	=&gt;	S T</a:t>
            </a:r>
            <a:endParaRPr sz="1600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/>
              <a:t>	</a:t>
            </a:r>
            <a:r>
              <a:rPr lang="en" sz="1600"/>
              <a:t>|	</a:t>
            </a:r>
            <a:r>
              <a:rPr lang="en" sz="1600" i="1"/>
              <a:t>T</a:t>
            </a:r>
            <a:endParaRPr sz="1600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/>
              <a:t>T	=&gt;	</a:t>
            </a:r>
            <a:r>
              <a:rPr lang="en" sz="1600"/>
              <a:t>a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	|	ε</a:t>
            </a:r>
            <a:endParaRPr sz="1600"/>
          </a:p>
        </p:txBody>
      </p:sp>
      <p:sp>
        <p:nvSpPr>
          <p:cNvPr id="176" name="Google Shape;176;p27"/>
          <p:cNvSpPr txBox="1"/>
          <p:nvPr/>
        </p:nvSpPr>
        <p:spPr>
          <a:xfrm>
            <a:off x="4752150" y="2078875"/>
            <a:ext cx="3737400" cy="23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Since we don’t define the start symbol anywhere, we assume that the first non-terminal is our start symbol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-"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 represents start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Char char="-"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 represents terminal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7CC2-3D10-C163-0505-095FB90B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BNF for a language with n a’s followed by a b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CCCC5-E2C6-0A8A-400C-659EC67A7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600" dirty="0"/>
              <a:t>We might express this language as {</a:t>
            </a:r>
            <a:r>
              <a:rPr lang="en-US" sz="1600" dirty="0" err="1"/>
              <a:t>a</a:t>
            </a:r>
            <a:r>
              <a:rPr lang="en-US" sz="1600" baseline="30000" dirty="0" err="1"/>
              <a:t>n</a:t>
            </a:r>
            <a:r>
              <a:rPr lang="en-US" sz="1600" dirty="0" err="1"/>
              <a:t>b|n</a:t>
            </a:r>
            <a:r>
              <a:rPr lang="en-US" sz="1600" dirty="0"/>
              <a:t> ∈ N, n &gt;= 0} . . . but what would this look like in BNF?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-US" sz="1600" dirty="0"/>
              <a:t>There are a lot of options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71233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E83BF-6330-575C-A41F-6FF2E0130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potential solutions</a:t>
            </a:r>
          </a:p>
        </p:txBody>
      </p:sp>
      <p:sp>
        <p:nvSpPr>
          <p:cNvPr id="4" name="Google Shape;175;p27">
            <a:extLst>
              <a:ext uri="{FF2B5EF4-FFF2-40B4-BE49-F238E27FC236}">
                <a16:creationId xmlns:a16="http://schemas.microsoft.com/office/drawing/2014/main" id="{B1D77E53-602A-DB57-E914-DCB5F0E69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2635919" cy="1361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/>
              <a:t>S	=&gt;	S</a:t>
            </a:r>
            <a:r>
              <a:rPr lang="en" sz="1600" dirty="0"/>
              <a:t>a</a:t>
            </a:r>
            <a:r>
              <a:rPr lang="en" sz="1600" i="1" dirty="0"/>
              <a:t> </a:t>
            </a:r>
            <a:endParaRPr sz="1600" i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 dirty="0"/>
              <a:t>	</a:t>
            </a:r>
            <a:r>
              <a:rPr lang="en" sz="1600" dirty="0"/>
              <a:t>|	b</a:t>
            </a:r>
            <a:endParaRPr sz="1600" i="1" dirty="0"/>
          </a:p>
        </p:txBody>
      </p:sp>
      <p:sp>
        <p:nvSpPr>
          <p:cNvPr id="5" name="Google Shape;175;p27">
            <a:extLst>
              <a:ext uri="{FF2B5EF4-FFF2-40B4-BE49-F238E27FC236}">
                <a16:creationId xmlns:a16="http://schemas.microsoft.com/office/drawing/2014/main" id="{D1FA4D3C-045D-67E0-DC81-2D35E8B3881F}"/>
              </a:ext>
            </a:extLst>
          </p:cNvPr>
          <p:cNvSpPr txBox="1">
            <a:spLocks/>
          </p:cNvSpPr>
          <p:nvPr/>
        </p:nvSpPr>
        <p:spPr>
          <a:xfrm>
            <a:off x="4096391" y="2083853"/>
            <a:ext cx="2635919" cy="136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600" i="1" dirty="0"/>
              <a:t>S	=&gt;	</a:t>
            </a:r>
            <a:r>
              <a:rPr lang="en-US" sz="1600" dirty="0" err="1"/>
              <a:t>a</a:t>
            </a:r>
            <a:r>
              <a:rPr lang="en-US" sz="1600" i="1" dirty="0" err="1"/>
              <a:t>S</a:t>
            </a:r>
            <a:r>
              <a:rPr lang="en-US" sz="1600" i="1" dirty="0"/>
              <a:t> </a:t>
            </a:r>
          </a:p>
          <a:p>
            <a:pPr marL="0" indent="0">
              <a:spcBef>
                <a:spcPts val="1200"/>
              </a:spcBef>
              <a:buFont typeface="Lato"/>
              <a:buNone/>
            </a:pPr>
            <a:r>
              <a:rPr lang="en-US" sz="1600" i="1" dirty="0"/>
              <a:t>	</a:t>
            </a:r>
            <a:r>
              <a:rPr lang="en-US" sz="1600" dirty="0"/>
              <a:t>|	b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299084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Example</a:t>
            </a:r>
            <a:endParaRPr/>
          </a:p>
        </p:txBody>
      </p:sp>
      <p:sp>
        <p:nvSpPr>
          <p:cNvPr id="182" name="Google Shape;182;p2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 language of a’s followed by the same number of b’s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{a</a:t>
            </a:r>
            <a:r>
              <a:rPr lang="en" sz="1600" baseline="30000"/>
              <a:t>n</a:t>
            </a:r>
            <a:r>
              <a:rPr lang="en" sz="1600"/>
              <a:t>b</a:t>
            </a:r>
            <a:r>
              <a:rPr lang="en" sz="1600" baseline="30000"/>
              <a:t>n</a:t>
            </a:r>
            <a:r>
              <a:rPr lang="en" sz="1600"/>
              <a:t>|n ∈ N, n &gt;= 0} 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This is the first thing we’ve run into that couldn’t be expressed via a regular language . . .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/>
              <a:t>S</a:t>
            </a:r>
            <a:r>
              <a:rPr lang="en" sz="1600"/>
              <a:t> 	=&gt;	ab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	|	a</a:t>
            </a:r>
            <a:r>
              <a:rPr lang="en" sz="1600" i="1"/>
              <a:t>S</a:t>
            </a:r>
            <a:r>
              <a:rPr lang="en" sz="1600"/>
              <a:t>b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Yet another example</a:t>
            </a:r>
            <a:endParaRPr/>
          </a:p>
        </p:txBody>
      </p:sp>
      <p:sp>
        <p:nvSpPr>
          <p:cNvPr id="194" name="Google Shape;194;p3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language of 3 b’s, followed by 1 or many c’s, followed by 0 or many d’s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{bbbc</a:t>
            </a:r>
            <a:r>
              <a:rPr lang="en" sz="1600" baseline="30000"/>
              <a:t>n</a:t>
            </a:r>
            <a:r>
              <a:rPr lang="en" sz="1600"/>
              <a:t>d</a:t>
            </a:r>
            <a:r>
              <a:rPr lang="en" sz="1600" baseline="30000"/>
              <a:t>m</a:t>
            </a:r>
            <a:r>
              <a:rPr lang="en" sz="1600"/>
              <a:t>|n ∈ N, m ∈ N, n &gt; 0, m &gt;= 0} 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Can we express this in a regular language?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What does the BNF for this look like?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body" idx="1"/>
          </p:nvPr>
        </p:nvSpPr>
        <p:spPr>
          <a:xfrm>
            <a:off x="729450" y="1853850"/>
            <a:ext cx="7688700" cy="28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There are a couple of potential solutions; this is mine: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/>
              <a:t>S 	=&gt;	</a:t>
            </a:r>
            <a:r>
              <a:rPr lang="en" sz="1600"/>
              <a:t>bbb</a:t>
            </a:r>
            <a:r>
              <a:rPr lang="en" sz="1600" i="1"/>
              <a:t>QR</a:t>
            </a:r>
            <a:endParaRPr sz="1600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/>
              <a:t>Q	=&gt;	</a:t>
            </a:r>
            <a:r>
              <a:rPr lang="en" sz="1600"/>
              <a:t>c</a:t>
            </a:r>
            <a:r>
              <a:rPr lang="en" sz="1600" i="1"/>
              <a:t>Q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	|	c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/>
              <a:t>R</a:t>
            </a:r>
            <a:r>
              <a:rPr lang="en" sz="1600"/>
              <a:t>	=&gt;	d</a:t>
            </a:r>
            <a:r>
              <a:rPr lang="en" sz="1600" i="1"/>
              <a:t>R</a:t>
            </a:r>
            <a:endParaRPr sz="1600" i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i="1"/>
              <a:t>	</a:t>
            </a:r>
            <a:r>
              <a:rPr lang="en" sz="1600"/>
              <a:t>|	ε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additional practice, if we have time</a:t>
            </a:r>
            <a:endParaRPr/>
          </a:p>
        </p:txBody>
      </p:sp>
      <p:sp>
        <p:nvSpPr>
          <p:cNvPr id="206" name="Google Shape;206;p3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5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{bc</a:t>
            </a:r>
            <a:r>
              <a:rPr lang="en" sz="1600" baseline="30000"/>
              <a:t>n</a:t>
            </a:r>
            <a:r>
              <a:rPr lang="en" sz="1600"/>
              <a:t>d</a:t>
            </a:r>
            <a:r>
              <a:rPr lang="en" sz="1600" baseline="30000"/>
              <a:t>2 * n </a:t>
            </a:r>
            <a:r>
              <a:rPr lang="en" sz="1600"/>
              <a:t>|n ∈ N, n &gt;= 3}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{x</a:t>
            </a:r>
            <a:r>
              <a:rPr lang="en" sz="1600" baseline="30000"/>
              <a:t>n</a:t>
            </a:r>
            <a:r>
              <a:rPr lang="en" sz="1600"/>
              <a:t>yz</a:t>
            </a:r>
            <a:r>
              <a:rPr lang="en" sz="1600" baseline="30000"/>
              <a:t>2 * n </a:t>
            </a:r>
            <a:r>
              <a:rPr lang="en" sz="1600"/>
              <a:t>|n ∈ N, n &gt;= 2}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{i</a:t>
            </a:r>
            <a:r>
              <a:rPr lang="en" sz="1600" baseline="30000"/>
              <a:t>3 * n</a:t>
            </a:r>
            <a:r>
              <a:rPr lang="en" sz="1600"/>
              <a:t>j</a:t>
            </a:r>
            <a:r>
              <a:rPr lang="en" sz="1600" baseline="30000"/>
              <a:t>n</a:t>
            </a:r>
            <a:r>
              <a:rPr lang="en" sz="1600"/>
              <a:t> |n ∈ N, n &gt;= 1}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924</Words>
  <Application>Microsoft Macintosh PowerPoint</Application>
  <PresentationFormat>On-screen Show (16:9)</PresentationFormat>
  <Paragraphs>144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Lato</vt:lpstr>
      <vt:lpstr>Arial</vt:lpstr>
      <vt:lpstr>Raleway</vt:lpstr>
      <vt:lpstr>Roboto Mono</vt:lpstr>
      <vt:lpstr>Streamline</vt:lpstr>
      <vt:lpstr>Grammar</vt:lpstr>
      <vt:lpstr>What do we care?</vt:lpstr>
      <vt:lpstr>Potential Languages</vt:lpstr>
      <vt:lpstr>Regular Languages</vt:lpstr>
      <vt:lpstr>Context Free Languages</vt:lpstr>
      <vt:lpstr>Context Sensitive Languages</vt:lpstr>
      <vt:lpstr>Language Hierarchy</vt:lpstr>
      <vt:lpstr>Diving into BNF Grammar</vt:lpstr>
      <vt:lpstr>BNF Grammar (continued)</vt:lpstr>
      <vt:lpstr>An Example: Bits</vt:lpstr>
      <vt:lpstr>Another Example: Binary</vt:lpstr>
      <vt:lpstr>Parse Tree for our Binary Grammar</vt:lpstr>
      <vt:lpstr>BNF for 0, 1, or 2 a’s</vt:lpstr>
      <vt:lpstr>BNF for a language with n a’s</vt:lpstr>
      <vt:lpstr>Only one non-terminal: a couple of options</vt:lpstr>
      <vt:lpstr>Multiple Non-terminals</vt:lpstr>
      <vt:lpstr>BNF for a language with n a’s followed by a b</vt:lpstr>
      <vt:lpstr>Some potential solutions</vt:lpstr>
      <vt:lpstr>Another Example</vt:lpstr>
      <vt:lpstr>Solution</vt:lpstr>
      <vt:lpstr>Yet another example</vt:lpstr>
      <vt:lpstr>Solution</vt:lpstr>
      <vt:lpstr>Some additional practice, if we have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Kevin Lane</cp:lastModifiedBy>
  <cp:revision>4</cp:revision>
  <dcterms:modified xsi:type="dcterms:W3CDTF">2026-06-03T02:15:03Z</dcterms:modified>
</cp:coreProperties>
</file>